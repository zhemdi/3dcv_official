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6" r:id="rId2"/>
    <p:sldMasterId id="2147483666" r:id="rId3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12192000" cy="6858000"/>
  <p:embeddedFontLst>
    <p:embeddedFont>
      <p:font typeface="Aptos" panose="020B0004020202020204" pitchFamily="34" charset="0"/>
      <p:regular r:id="rId9"/>
      <p:bold r:id="rId10"/>
      <p:italic r:id="rId11"/>
      <p:boldItalic r:id="rId12"/>
    </p:embeddedFont>
    <p:embeddedFont>
      <p:font typeface="Aptos Display" panose="020B0004020202020204" pitchFamily="3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>
        <p:scale>
          <a:sx n="124" d="100"/>
          <a:sy n="124" d="100"/>
        </p:scale>
        <p:origin x="64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50" b="0" i="0" u="none" strike="noStrike" spc="0" baseline="0">
              <a:solidFill>
                <a:schemeClr val="tx1">
                  <a:lumMod val="65000"/>
                  <a:lumOff val="35000"/>
                </a:schemeClr>
              </a:solidFill>
              <a:latin typeface="Moscow University"/>
              <a:ea typeface="+mn-ea"/>
              <a:cs typeface="+mn-cs"/>
            </a:defRPr>
          </a:pPr>
          <a:endParaRPr lang="en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prstGeom prst="rect">
              <a:avLst/>
            </a:prstGeom>
            <a:solidFill>
              <a:srgbClr val="7F5CFF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  <c:pt idx="4">
                  <c:v>Категория 5</c:v>
                </c:pt>
                <c:pt idx="5">
                  <c:v>Категория 6</c:v>
                </c:pt>
              </c:strCache>
            </c:strRef>
          </c:cat>
          <c:val>
            <c:numRef>
              <c:f>Лист1!$B$2:$B$7</c:f>
              <c:numCache>
                <c:formatCode>General</c:formatCode>
                <c:ptCount val="6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2.5</c:v>
                </c:pt>
                <c:pt idx="5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44-A343-A358-703857DE061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prstGeom prst="rect">
              <a:avLst/>
            </a:prstGeom>
            <a:solidFill>
              <a:srgbClr val="1D13C3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  <c:pt idx="4">
                  <c:v>Категория 5</c:v>
                </c:pt>
                <c:pt idx="5">
                  <c:v>Категория 6</c:v>
                </c:pt>
              </c:strCache>
            </c:strRef>
          </c:cat>
          <c:val>
            <c:numRef>
              <c:f>Лист1!$C$2:$C$7</c:f>
              <c:numCache>
                <c:formatCode>General</c:formatCode>
                <c:ptCount val="6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4.4000000000000004</c:v>
                </c:pt>
                <c:pt idx="5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44-A343-A358-703857DE061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Лист1!$A$2:$A$7</c:f>
              <c:strCache>
                <c:ptCount val="6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  <c:pt idx="4">
                  <c:v>Категория 5</c:v>
                </c:pt>
                <c:pt idx="5">
                  <c:v>Категория 6</c:v>
                </c:pt>
              </c:strCache>
            </c:strRef>
          </c:cat>
          <c:val>
            <c:numRef>
              <c:f>Лист1!$D$2:$D$7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144-A343-A358-703857DE06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13437424"/>
        <c:axId val="513435856"/>
      </c:barChart>
      <c:catAx>
        <c:axId val="513437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 bwMode="auto">
          <a:prstGeom prst="rect">
            <a:avLst/>
          </a:prstGeom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Moscow University"/>
                <a:ea typeface="Arial"/>
                <a:cs typeface="Arial"/>
              </a:defRPr>
            </a:pPr>
            <a:endParaRPr lang="en-RU"/>
          </a:p>
        </c:txPr>
        <c:crossAx val="513435856"/>
        <c:crosses val="autoZero"/>
        <c:auto val="1"/>
        <c:lblAlgn val="ctr"/>
        <c:lblOffset val="100"/>
        <c:noMultiLvlLbl val="0"/>
      </c:catAx>
      <c:valAx>
        <c:axId val="513435856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prstGeom prst="rect">
            <a:avLst/>
          </a:prstGeom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Moscow University"/>
                <a:ea typeface="Arial"/>
                <a:cs typeface="Arial"/>
              </a:defRPr>
            </a:pPr>
            <a:endParaRPr lang="en-RU"/>
          </a:p>
        </c:txPr>
        <c:crossAx val="513437424"/>
        <c:crosses val="autoZero"/>
        <c:crossBetween val="between"/>
      </c:valAx>
      <c:spPr>
        <a:prstGeom prst="rect">
          <a:avLst/>
        </a:prstGeom>
        <a:noFill/>
        <a:ln>
          <a:noFill/>
        </a:ln>
        <a:effectLst/>
      </c:spPr>
    </c:plotArea>
    <c:legend>
      <c:legendPos val="b"/>
      <c:overlay val="0"/>
      <c:spPr>
        <a:prstGeom prst="rect">
          <a:avLst/>
        </a:prstGeom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baseline="0">
              <a:solidFill>
                <a:schemeClr val="tx1">
                  <a:lumMod val="65000"/>
                  <a:lumOff val="35000"/>
                </a:schemeClr>
              </a:solidFill>
              <a:latin typeface="Moscow University"/>
              <a:ea typeface="+mn-ea"/>
              <a:cs typeface="+mn-cs"/>
            </a:defRPr>
          </a:pPr>
          <a:endParaRPr lang="en-RU"/>
        </a:p>
      </c:txPr>
    </c:legend>
    <c:plotVisOnly val="1"/>
    <c:dispBlanksAs val="gap"/>
    <c:showDLblsOverMax val="0"/>
  </c:chart>
  <c:spPr bwMode="auto">
    <a:xfrm>
      <a:off x="346231" y="2710831"/>
      <a:ext cx="11488504" cy="2872673"/>
    </a:xfrm>
    <a:prstGeom prst="rect">
      <a:avLst/>
    </a:prstGeom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5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categoryAxis>
  <cs:chartArea>
    <cs:lnRef idx="0"/>
    <cs:fillRef idx="0"/>
    <cs:effectRef idx="0"/>
    <cs:fontRef idx="minor">
      <a:schemeClr val="tx1"/>
    </cs:fontRef>
    <cs:spPr bwMode="auto">
      <a:prstGeom prst="rect">
        <a:avLst/>
      </a:prstGeom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5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 bwMode="auto">
      <a:prstGeom prst="rect">
        <a:avLst/>
      </a:prstGeom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 bwMode="auto">
      <a:prstGeom prst="rect">
        <a:avLst/>
      </a:prstGeom>
      <a:ln w="9525">
        <a:solidFill>
          <a:schemeClr val="phClr"/>
        </a:solidFill>
      </a:ln>
    </cs:spPr>
  </cs:dataPointMarker>
  <cs:dataPointMarkerLayout/>
  <cs:dataPointWireframe>
    <cs:lnRef idx="0">
      <cs:styleClr val="auto"/>
    </cs:lnRef>
    <cs:fillRef idx="1"/>
    <cs:effectRef idx="0"/>
    <cs:fontRef idx="minor">
      <a:schemeClr val="tx1"/>
    </cs:fontRef>
    <cs:spPr bwMode="auto">
      <a:prstGeom prst="rect">
        <a:avLst/>
      </a:prstGeom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 bwMode="auto">
      <a:prstGeom prst="rect">
        <a:avLst/>
      </a:prstGeom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200"/>
  </cs:dataTable>
  <cs:down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seriesAxis>
  <cs:seriesLine>
    <cs:lnRef idx="0"/>
    <cs:fillRef idx="0"/>
    <cs:effectRef idx="0"/>
    <cs:fontRef idx="minor">
      <a:schemeClr val="tx1"/>
    </cs:fontRef>
    <cs:spPr bwMode="auto">
      <a:prstGeom prst="rect">
        <a:avLst/>
      </a:prstGeom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50" b="0" spc="0"/>
  </cs:title>
  <cs:trendline>
    <cs:lnRef idx="0">
      <cs:styleClr val="auto"/>
    </cs:lnRef>
    <cs:fillRef idx="0"/>
    <cs:effectRef idx="0"/>
    <cs:fontRef idx="minor">
      <a:schemeClr val="tx1"/>
    </cs:fontRef>
    <cs:spPr bwMode="auto">
      <a:prstGeom prst="rect">
        <a:avLst/>
      </a:prstGeom>
      <a:ln w="19050" cap="rnd">
        <a:solidFill>
          <a:schemeClr val="phClr"/>
        </a:solidFill>
        <a:prstDash val="sysDot"/>
        <a:miter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200"/>
  </cs:trendlineLabel>
  <cs:upBar>
    <cs:lnRef idx="0"/>
    <cs:fillRef idx="0"/>
    <cs:effectRef idx="0"/>
    <cs:fontRef idx="minor">
      <a:schemeClr val="dk1"/>
    </cs:fontRef>
    <cs:spPr bwMode="auto">
      <a:prstGeom prst="rect">
        <a:avLst/>
      </a:prstGeom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200"/>
  </cs:valueAxis>
  <cs:wall>
    <cs:lnRef idx="0"/>
    <cs:fillRef idx="0"/>
    <cs:effectRef idx="0"/>
    <cs:fontRef idx="minor">
      <a:schemeClr val="tx1"/>
    </cs:fontRef>
    <cs:spPr bwMode="auto">
      <a:prstGeom prst="rect">
        <a:avLst/>
      </a:prstGeom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637650-5568-4265-9843-3D71C5E25DB2}" type="doc">
      <dgm:prSet loTypeId="urn:microsoft.com/office/officeart/2005/8/layout/cycle8" loCatId="cycle" qsTypeId="urn:microsoft.com/office/officeart/2005/8/quickstyle/simple3#3" qsCatId="simple" csTypeId="urn:microsoft.com/office/officeart/2005/8/colors/accent1_3" csCatId="accent1" phldr="1"/>
      <dgm:spPr bwMode="auto"/>
    </dgm:pt>
    <dgm:pt modelId="{BC7C4AB9-4F17-4233-8411-7251DF85471F}">
      <dgm:prSet phldrT="[Текст]" phldr="1" custT="1"/>
      <dgm:spPr bwMode="auto">
        <a:solidFill>
          <a:schemeClr val="bg1"/>
        </a:solidFill>
      </dgm:spPr>
      <dgm:t>
        <a:bodyPr/>
        <a:lstStyle/>
        <a:p>
          <a:pPr>
            <a:defRPr/>
          </a:pPr>
          <a:endParaRPr lang="ru-RU" sz="2400">
            <a:latin typeface="Moscow University"/>
          </a:endParaRPr>
        </a:p>
      </dgm:t>
    </dgm:pt>
    <dgm:pt modelId="{4D1B6542-4F40-4C1F-8DAD-79B4EA500E9C}" type="parTrans" cxnId="{580ED98C-2AF9-4592-A7B6-C44305DDFB9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42038D4E-13B9-4D06-885D-8A1FE11703DB}" type="sibTrans" cxnId="{580ED98C-2AF9-4592-A7B6-C44305DDFB99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54D7DDA8-F7E2-491F-93DA-2EE1A5DFCC7E}">
      <dgm:prSet phldrT="[Текст]" phldr="1" custT="1"/>
      <dgm:spPr bwMode="auto">
        <a:solidFill>
          <a:schemeClr val="bg1"/>
        </a:solidFill>
      </dgm:spPr>
      <dgm:t>
        <a:bodyPr/>
        <a:lstStyle/>
        <a:p>
          <a:pPr>
            <a:defRPr/>
          </a:pPr>
          <a:endParaRPr lang="ru-RU" sz="2400">
            <a:latin typeface="Moscow University"/>
          </a:endParaRPr>
        </a:p>
      </dgm:t>
    </dgm:pt>
    <dgm:pt modelId="{217E9438-4EBD-4A8F-9457-562DA6ECFC53}" type="parTrans" cxnId="{33A1C034-587C-4B26-82AC-7EC3215CE04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37274E3F-2A7A-4396-B9EC-B0C21A9D897E}" type="sibTrans" cxnId="{33A1C034-587C-4B26-82AC-7EC3215CE04C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58BA48D-E25C-4E23-BAB2-3A1FA380247A}">
      <dgm:prSet phldrT="[Текст]" phldr="1" custT="1"/>
      <dgm:spPr bwMode="auto">
        <a:solidFill>
          <a:schemeClr val="bg1"/>
        </a:solidFill>
      </dgm:spPr>
      <dgm:t>
        <a:bodyPr/>
        <a:lstStyle/>
        <a:p>
          <a:pPr>
            <a:defRPr/>
          </a:pPr>
          <a:endParaRPr lang="ru-RU" sz="2400">
            <a:latin typeface="Moscow University"/>
          </a:endParaRPr>
        </a:p>
      </dgm:t>
    </dgm:pt>
    <dgm:pt modelId="{BF68DAA7-B179-4636-BF26-229B42C8EFAD}" type="parTrans" cxnId="{8896DBD5-7F08-429F-BFD7-63FCEADBDEC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C78300CE-B48F-4B95-8F56-6636FAAFBC80}" type="sibTrans" cxnId="{8896DBD5-7F08-429F-BFD7-63FCEADBDEC5}">
      <dgm:prSet/>
      <dgm:spPr bwMode="auto"/>
      <dgm:t>
        <a:bodyPr/>
        <a:lstStyle/>
        <a:p>
          <a:pPr>
            <a:defRPr/>
          </a:pPr>
          <a:endParaRPr lang="ru-RU"/>
        </a:p>
      </dgm:t>
    </dgm:pt>
    <dgm:pt modelId="{6EC3DF62-3D23-498B-B139-517B1FD449E9}" type="pres">
      <dgm:prSet presAssocID="{36637650-5568-4265-9843-3D71C5E25DB2}" presName="compositeShape" presStyleCnt="0">
        <dgm:presLayoutVars>
          <dgm:chMax val="7"/>
          <dgm:dir/>
          <dgm:resizeHandles val="exact"/>
        </dgm:presLayoutVars>
      </dgm:prSet>
      <dgm:spPr bwMode="auto"/>
    </dgm:pt>
    <dgm:pt modelId="{65D4209F-A964-436D-8273-2ECC920A3303}" type="pres">
      <dgm:prSet presAssocID="{36637650-5568-4265-9843-3D71C5E25DB2}" presName="wedge1" presStyleLbl="node1" presStyleIdx="0" presStyleCnt="3"/>
      <dgm:spPr bwMode="auto"/>
    </dgm:pt>
    <dgm:pt modelId="{D8F88E94-5889-4916-8E16-AA51DFF5CDB0}" type="pres">
      <dgm:prSet presAssocID="{36637650-5568-4265-9843-3D71C5E25DB2}" presName="dummy1a" presStyleCnt="0"/>
      <dgm:spPr bwMode="auto"/>
    </dgm:pt>
    <dgm:pt modelId="{9BE314FE-7BD8-4616-872C-0B34E039C681}" type="pres">
      <dgm:prSet presAssocID="{36637650-5568-4265-9843-3D71C5E25DB2}" presName="dummy1b" presStyleCnt="0"/>
      <dgm:spPr bwMode="auto"/>
    </dgm:pt>
    <dgm:pt modelId="{5B9A9599-E5DC-40C7-8A33-F108EECF75E1}" type="pres">
      <dgm:prSet presAssocID="{36637650-5568-4265-9843-3D71C5E25DB2}" presName="wedge1Tx" presStyleLbl="node1" presStyleIdx="0" presStyleCnt="3">
        <dgm:presLayoutVars>
          <dgm:chMax val="0"/>
          <dgm:chPref val="0"/>
          <dgm:bulletEnabled val="1"/>
        </dgm:presLayoutVars>
      </dgm:prSet>
      <dgm:spPr bwMode="auto"/>
    </dgm:pt>
    <dgm:pt modelId="{9D2E7DE7-5D8B-48AD-9CFA-A6F9ADC84D99}" type="pres">
      <dgm:prSet presAssocID="{36637650-5568-4265-9843-3D71C5E25DB2}" presName="wedge2" presStyleLbl="node1" presStyleIdx="1" presStyleCnt="3"/>
      <dgm:spPr bwMode="auto"/>
    </dgm:pt>
    <dgm:pt modelId="{74915C5C-3B7E-4086-9395-0AA57EC3D101}" type="pres">
      <dgm:prSet presAssocID="{36637650-5568-4265-9843-3D71C5E25DB2}" presName="dummy2a" presStyleCnt="0"/>
      <dgm:spPr bwMode="auto"/>
    </dgm:pt>
    <dgm:pt modelId="{DA859371-5327-4DEF-A605-6BB510989ADE}" type="pres">
      <dgm:prSet presAssocID="{36637650-5568-4265-9843-3D71C5E25DB2}" presName="dummy2b" presStyleCnt="0"/>
      <dgm:spPr bwMode="auto"/>
    </dgm:pt>
    <dgm:pt modelId="{517A5B2E-556A-4C88-8E3F-B66D3FBA786F}" type="pres">
      <dgm:prSet presAssocID="{36637650-5568-4265-9843-3D71C5E25DB2}" presName="wedge2Tx" presStyleLbl="node1" presStyleIdx="1" presStyleCnt="3">
        <dgm:presLayoutVars>
          <dgm:chMax val="0"/>
          <dgm:chPref val="0"/>
          <dgm:bulletEnabled val="1"/>
        </dgm:presLayoutVars>
      </dgm:prSet>
      <dgm:spPr bwMode="auto"/>
    </dgm:pt>
    <dgm:pt modelId="{9E153B95-D8FF-442C-A18C-49ED2FE39E41}" type="pres">
      <dgm:prSet presAssocID="{36637650-5568-4265-9843-3D71C5E25DB2}" presName="wedge3" presStyleLbl="node1" presStyleIdx="2" presStyleCnt="3"/>
      <dgm:spPr bwMode="auto"/>
    </dgm:pt>
    <dgm:pt modelId="{F9947DE9-0D7A-4DCE-B52C-0F2875FFB736}" type="pres">
      <dgm:prSet presAssocID="{36637650-5568-4265-9843-3D71C5E25DB2}" presName="dummy3a" presStyleCnt="0"/>
      <dgm:spPr bwMode="auto"/>
    </dgm:pt>
    <dgm:pt modelId="{CF9713E6-E5E3-4B47-91C9-7E11BDB24257}" type="pres">
      <dgm:prSet presAssocID="{36637650-5568-4265-9843-3D71C5E25DB2}" presName="dummy3b" presStyleCnt="0"/>
      <dgm:spPr bwMode="auto"/>
    </dgm:pt>
    <dgm:pt modelId="{5AFA4C27-8247-4A32-80B3-7011DFE41178}" type="pres">
      <dgm:prSet presAssocID="{36637650-5568-4265-9843-3D71C5E25DB2}" presName="wedge3Tx" presStyleLbl="node1" presStyleIdx="2" presStyleCnt="3">
        <dgm:presLayoutVars>
          <dgm:chMax val="0"/>
          <dgm:chPref val="0"/>
          <dgm:bulletEnabled val="1"/>
        </dgm:presLayoutVars>
      </dgm:prSet>
      <dgm:spPr bwMode="auto"/>
    </dgm:pt>
    <dgm:pt modelId="{60B7BE67-3C1A-4FE5-A870-BF027D80EC3B}" type="pres">
      <dgm:prSet presAssocID="{42038D4E-13B9-4D06-885D-8A1FE11703DB}" presName="arrowWedge1" presStyleLbl="fgSibTrans2D1" presStyleIdx="0" presStyleCnt="3"/>
      <dgm:spPr bwMode="auto">
        <a:solidFill>
          <a:srgbClr val="7F5CFF"/>
        </a:solidFill>
      </dgm:spPr>
    </dgm:pt>
    <dgm:pt modelId="{CD91CE52-7134-4224-9207-62CDCD8A3388}" type="pres">
      <dgm:prSet presAssocID="{37274E3F-2A7A-4396-B9EC-B0C21A9D897E}" presName="arrowWedge2" presStyleLbl="fgSibTrans2D1" presStyleIdx="1" presStyleCnt="3"/>
      <dgm:spPr bwMode="auto">
        <a:solidFill>
          <a:srgbClr val="7F5CFF"/>
        </a:solidFill>
      </dgm:spPr>
    </dgm:pt>
    <dgm:pt modelId="{98E5C20D-F29A-4C34-AD13-7563162D5E80}" type="pres">
      <dgm:prSet presAssocID="{C78300CE-B48F-4B95-8F56-6636FAAFBC80}" presName="arrowWedge3" presStyleLbl="fgSibTrans2D1" presStyleIdx="2" presStyleCnt="3"/>
      <dgm:spPr bwMode="auto">
        <a:solidFill>
          <a:srgbClr val="7F5CFF"/>
        </a:solidFill>
      </dgm:spPr>
    </dgm:pt>
  </dgm:ptLst>
  <dgm:cxnLst>
    <dgm:cxn modelId="{194B6116-2C49-4293-A837-5C7654315EC9}" type="presOf" srcId="{BC7C4AB9-4F17-4233-8411-7251DF85471F}" destId="{5B9A9599-E5DC-40C7-8A33-F108EECF75E1}" srcOrd="1" destOrd="0" presId="urn:microsoft.com/office/officeart/2005/8/layout/cycle8"/>
    <dgm:cxn modelId="{2F226B16-7F1D-4C70-B16A-E066032D3C17}" type="presOf" srcId="{36637650-5568-4265-9843-3D71C5E25DB2}" destId="{6EC3DF62-3D23-498B-B139-517B1FD449E9}" srcOrd="0" destOrd="0" presId="urn:microsoft.com/office/officeart/2005/8/layout/cycle8"/>
    <dgm:cxn modelId="{3DD44E18-8A10-4666-A1DA-966D07B90688}" type="presOf" srcId="{54D7DDA8-F7E2-491F-93DA-2EE1A5DFCC7E}" destId="{517A5B2E-556A-4C88-8E3F-B66D3FBA786F}" srcOrd="1" destOrd="0" presId="urn:microsoft.com/office/officeart/2005/8/layout/cycle8"/>
    <dgm:cxn modelId="{C036731B-A3C6-466C-BD64-46EF33F9DEFF}" type="presOf" srcId="{C58BA48D-E25C-4E23-BAB2-3A1FA380247A}" destId="{5AFA4C27-8247-4A32-80B3-7011DFE41178}" srcOrd="1" destOrd="0" presId="urn:microsoft.com/office/officeart/2005/8/layout/cycle8"/>
    <dgm:cxn modelId="{33A1C034-587C-4B26-82AC-7EC3215CE04C}" srcId="{36637650-5568-4265-9843-3D71C5E25DB2}" destId="{54D7DDA8-F7E2-491F-93DA-2EE1A5DFCC7E}" srcOrd="1" destOrd="0" parTransId="{217E9438-4EBD-4A8F-9457-562DA6ECFC53}" sibTransId="{37274E3F-2A7A-4396-B9EC-B0C21A9D897E}"/>
    <dgm:cxn modelId="{674B3480-BBD7-4054-8A14-356A11F8ED3C}" type="presOf" srcId="{BC7C4AB9-4F17-4233-8411-7251DF85471F}" destId="{65D4209F-A964-436D-8273-2ECC920A3303}" srcOrd="0" destOrd="0" presId="urn:microsoft.com/office/officeart/2005/8/layout/cycle8"/>
    <dgm:cxn modelId="{580ED98C-2AF9-4592-A7B6-C44305DDFB99}" srcId="{36637650-5568-4265-9843-3D71C5E25DB2}" destId="{BC7C4AB9-4F17-4233-8411-7251DF85471F}" srcOrd="0" destOrd="0" parTransId="{4D1B6542-4F40-4C1F-8DAD-79B4EA500E9C}" sibTransId="{42038D4E-13B9-4D06-885D-8A1FE11703DB}"/>
    <dgm:cxn modelId="{445E63B0-FB31-498A-8019-0B48B61144FB}" type="presOf" srcId="{54D7DDA8-F7E2-491F-93DA-2EE1A5DFCC7E}" destId="{9D2E7DE7-5D8B-48AD-9CFA-A6F9ADC84D99}" srcOrd="0" destOrd="0" presId="urn:microsoft.com/office/officeart/2005/8/layout/cycle8"/>
    <dgm:cxn modelId="{8896DBD5-7F08-429F-BFD7-63FCEADBDEC5}" srcId="{36637650-5568-4265-9843-3D71C5E25DB2}" destId="{C58BA48D-E25C-4E23-BAB2-3A1FA380247A}" srcOrd="2" destOrd="0" parTransId="{BF68DAA7-B179-4636-BF26-229B42C8EFAD}" sibTransId="{C78300CE-B48F-4B95-8F56-6636FAAFBC80}"/>
    <dgm:cxn modelId="{221A6DE8-9719-4B75-9D06-19AC7014230D}" type="presOf" srcId="{C58BA48D-E25C-4E23-BAB2-3A1FA380247A}" destId="{9E153B95-D8FF-442C-A18C-49ED2FE39E41}" srcOrd="0" destOrd="0" presId="urn:microsoft.com/office/officeart/2005/8/layout/cycle8"/>
    <dgm:cxn modelId="{D6598EB4-1496-462D-85A7-F85E21ABD2C1}" type="presParOf" srcId="{6EC3DF62-3D23-498B-B139-517B1FD449E9}" destId="{65D4209F-A964-436D-8273-2ECC920A3303}" srcOrd="0" destOrd="0" presId="urn:microsoft.com/office/officeart/2005/8/layout/cycle8"/>
    <dgm:cxn modelId="{C3D1E50E-7A61-4067-9084-5EA4E7EAE9C6}" type="presParOf" srcId="{6EC3DF62-3D23-498B-B139-517B1FD449E9}" destId="{D8F88E94-5889-4916-8E16-AA51DFF5CDB0}" srcOrd="1" destOrd="0" presId="urn:microsoft.com/office/officeart/2005/8/layout/cycle8"/>
    <dgm:cxn modelId="{D5A69C2D-FAB3-45D0-823A-BA0480626EF8}" type="presParOf" srcId="{6EC3DF62-3D23-498B-B139-517B1FD449E9}" destId="{9BE314FE-7BD8-4616-872C-0B34E039C681}" srcOrd="2" destOrd="0" presId="urn:microsoft.com/office/officeart/2005/8/layout/cycle8"/>
    <dgm:cxn modelId="{702ADFF2-068E-4612-A461-DA35D708D9DB}" type="presParOf" srcId="{6EC3DF62-3D23-498B-B139-517B1FD449E9}" destId="{5B9A9599-E5DC-40C7-8A33-F108EECF75E1}" srcOrd="3" destOrd="0" presId="urn:microsoft.com/office/officeart/2005/8/layout/cycle8"/>
    <dgm:cxn modelId="{82ABCADA-4D13-4261-8D8C-930F43EE666F}" type="presParOf" srcId="{6EC3DF62-3D23-498B-B139-517B1FD449E9}" destId="{9D2E7DE7-5D8B-48AD-9CFA-A6F9ADC84D99}" srcOrd="4" destOrd="0" presId="urn:microsoft.com/office/officeart/2005/8/layout/cycle8"/>
    <dgm:cxn modelId="{E7B568B5-025F-49B5-A91D-443D6493E1B6}" type="presParOf" srcId="{6EC3DF62-3D23-498B-B139-517B1FD449E9}" destId="{74915C5C-3B7E-4086-9395-0AA57EC3D101}" srcOrd="5" destOrd="0" presId="urn:microsoft.com/office/officeart/2005/8/layout/cycle8"/>
    <dgm:cxn modelId="{46416280-B54E-4A04-A5BB-E4CCEC738AB2}" type="presParOf" srcId="{6EC3DF62-3D23-498B-B139-517B1FD449E9}" destId="{DA859371-5327-4DEF-A605-6BB510989ADE}" srcOrd="6" destOrd="0" presId="urn:microsoft.com/office/officeart/2005/8/layout/cycle8"/>
    <dgm:cxn modelId="{0637572D-06D3-4D00-BF58-5C2BBC1C63C8}" type="presParOf" srcId="{6EC3DF62-3D23-498B-B139-517B1FD449E9}" destId="{517A5B2E-556A-4C88-8E3F-B66D3FBA786F}" srcOrd="7" destOrd="0" presId="urn:microsoft.com/office/officeart/2005/8/layout/cycle8"/>
    <dgm:cxn modelId="{ECC758DE-DA11-483E-80C4-4AA8D1EC14E8}" type="presParOf" srcId="{6EC3DF62-3D23-498B-B139-517B1FD449E9}" destId="{9E153B95-D8FF-442C-A18C-49ED2FE39E41}" srcOrd="8" destOrd="0" presId="urn:microsoft.com/office/officeart/2005/8/layout/cycle8"/>
    <dgm:cxn modelId="{135571A3-B134-43DC-A3A0-BAB533D43FE5}" type="presParOf" srcId="{6EC3DF62-3D23-498B-B139-517B1FD449E9}" destId="{F9947DE9-0D7A-4DCE-B52C-0F2875FFB736}" srcOrd="9" destOrd="0" presId="urn:microsoft.com/office/officeart/2005/8/layout/cycle8"/>
    <dgm:cxn modelId="{4095905B-77ED-4DC1-A6D6-54B97957DBBA}" type="presParOf" srcId="{6EC3DF62-3D23-498B-B139-517B1FD449E9}" destId="{CF9713E6-E5E3-4B47-91C9-7E11BDB24257}" srcOrd="10" destOrd="0" presId="urn:microsoft.com/office/officeart/2005/8/layout/cycle8"/>
    <dgm:cxn modelId="{BBF7AD7B-5779-428F-BE53-1D26E9868623}" type="presParOf" srcId="{6EC3DF62-3D23-498B-B139-517B1FD449E9}" destId="{5AFA4C27-8247-4A32-80B3-7011DFE41178}" srcOrd="11" destOrd="0" presId="urn:microsoft.com/office/officeart/2005/8/layout/cycle8"/>
    <dgm:cxn modelId="{D227BF16-E4E1-41FC-A31A-ADE283F6F646}" type="presParOf" srcId="{6EC3DF62-3D23-498B-B139-517B1FD449E9}" destId="{60B7BE67-3C1A-4FE5-A870-BF027D80EC3B}" srcOrd="12" destOrd="0" presId="urn:microsoft.com/office/officeart/2005/8/layout/cycle8"/>
    <dgm:cxn modelId="{BD94ADF5-8B64-4205-9270-1ECCBB7980D6}" type="presParOf" srcId="{6EC3DF62-3D23-498B-B139-517B1FD449E9}" destId="{CD91CE52-7134-4224-9207-62CDCD8A3388}" srcOrd="13" destOrd="0" presId="urn:microsoft.com/office/officeart/2005/8/layout/cycle8"/>
    <dgm:cxn modelId="{FE836220-3F89-448D-980C-C3CEF2729B4B}" type="presParOf" srcId="{6EC3DF62-3D23-498B-B139-517B1FD449E9}" destId="{98E5C20D-F29A-4C34-AD13-7563162D5E80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4209F-A964-436D-8273-2ECC920A3303}">
      <dsp:nvSpPr>
        <dsp:cNvPr id="0" name=""/>
        <dsp:cNvSpPr/>
      </dsp:nvSpPr>
      <dsp:spPr bwMode="auto">
        <a:xfrm>
          <a:off x="765123" y="322666"/>
          <a:ext cx="4169839" cy="4169839"/>
        </a:xfrm>
        <a:prstGeom prst="pie">
          <a:avLst>
            <a:gd name="adj1" fmla="val 16200000"/>
            <a:gd name="adj2" fmla="val 1800000"/>
          </a:avLst>
        </a:prstGeom>
        <a:solidFill>
          <a:schemeClr val="bg1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ru-RU" sz="2400" kern="1200">
            <a:latin typeface="Moscow University"/>
          </a:endParaRPr>
        </a:p>
      </dsp:txBody>
      <dsp:txXfrm>
        <a:off x="2962728" y="1206275"/>
        <a:ext cx="1489228" cy="1241023"/>
      </dsp:txXfrm>
    </dsp:sp>
    <dsp:sp modelId="{9D2E7DE7-5D8B-48AD-9CFA-A6F9ADC84D99}">
      <dsp:nvSpPr>
        <dsp:cNvPr id="0" name=""/>
        <dsp:cNvSpPr/>
      </dsp:nvSpPr>
      <dsp:spPr bwMode="auto">
        <a:xfrm>
          <a:off x="679245" y="471589"/>
          <a:ext cx="4169839" cy="4169839"/>
        </a:xfrm>
        <a:prstGeom prst="pie">
          <a:avLst>
            <a:gd name="adj1" fmla="val 1800000"/>
            <a:gd name="adj2" fmla="val 9000000"/>
          </a:avLst>
        </a:prstGeom>
        <a:solidFill>
          <a:schemeClr val="bg1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ru-RU" sz="2400" kern="1200">
            <a:latin typeface="Moscow University"/>
          </a:endParaRPr>
        </a:p>
      </dsp:txBody>
      <dsp:txXfrm>
        <a:off x="1672064" y="3177020"/>
        <a:ext cx="2233842" cy="1092100"/>
      </dsp:txXfrm>
    </dsp:sp>
    <dsp:sp modelId="{9E153B95-D8FF-442C-A18C-49ED2FE39E41}">
      <dsp:nvSpPr>
        <dsp:cNvPr id="0" name=""/>
        <dsp:cNvSpPr/>
      </dsp:nvSpPr>
      <dsp:spPr bwMode="auto">
        <a:xfrm>
          <a:off x="593366" y="322666"/>
          <a:ext cx="4169839" cy="4169839"/>
        </a:xfrm>
        <a:prstGeom prst="pie">
          <a:avLst>
            <a:gd name="adj1" fmla="val 9000000"/>
            <a:gd name="adj2" fmla="val 16200000"/>
          </a:avLst>
        </a:prstGeom>
        <a:solidFill>
          <a:schemeClr val="bg1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ru-RU" sz="2400" kern="1200">
            <a:latin typeface="Moscow University"/>
          </a:endParaRPr>
        </a:p>
      </dsp:txBody>
      <dsp:txXfrm>
        <a:off x="1076372" y="1206275"/>
        <a:ext cx="1489228" cy="1241023"/>
      </dsp:txXfrm>
    </dsp:sp>
    <dsp:sp modelId="{60B7BE67-3C1A-4FE5-A870-BF027D80EC3B}">
      <dsp:nvSpPr>
        <dsp:cNvPr id="0" name=""/>
        <dsp:cNvSpPr/>
      </dsp:nvSpPr>
      <dsp:spPr bwMode="auto">
        <a:xfrm>
          <a:off x="507335" y="64533"/>
          <a:ext cx="4686105" cy="4686105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rgbClr val="7F5CFF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</dsp:sp>
    <dsp:sp modelId="{CD91CE52-7134-4224-9207-62CDCD8A3388}">
      <dsp:nvSpPr>
        <dsp:cNvPr id="0" name=""/>
        <dsp:cNvSpPr/>
      </dsp:nvSpPr>
      <dsp:spPr bwMode="auto">
        <a:xfrm>
          <a:off x="421112" y="213192"/>
          <a:ext cx="4686105" cy="4686105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rgbClr val="7F5CFF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</dsp:sp>
    <dsp:sp modelId="{98E5C20D-F29A-4C34-AD13-7563162D5E80}">
      <dsp:nvSpPr>
        <dsp:cNvPr id="0" name=""/>
        <dsp:cNvSpPr/>
      </dsp:nvSpPr>
      <dsp:spPr bwMode="auto">
        <a:xfrm>
          <a:off x="334889" y="64533"/>
          <a:ext cx="4686105" cy="4686105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rgbClr val="7F5CFF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rgbClr val="000000"/>
        </a:lnRef>
        <a:fillRef idx="2">
          <a:srgbClr val="000000"/>
        </a:fillRef>
        <a:effectRef idx="1">
          <a:srgbClr val="000000"/>
        </a:effectRef>
        <a:fontRef idx="minor">
          <a:schemeClr val="dk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#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/>
    <dgm:txPr/>
    <dgm:style>
      <a:lnRef idx="1">
        <a:srgbClr val="000000"/>
      </a:lnRef>
      <a:fillRef idx="2">
        <a:srgbClr val="000000"/>
      </a:fillRef>
      <a:effectRef idx="0">
        <a:srgbClr val="00000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0">
        <a:srgbClr val="00000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/>
    </dgm:style>
  </dgm:styleLbl>
  <dgm:styleLbl name="asst0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/>
    <dgm:txPr/>
    <dgm:style>
      <a:lnRef idx="0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rgbClr val="000000"/>
      </a:lnRef>
      <a:fillRef idx="2">
        <a:srgbClr val="000000"/>
      </a:fillRef>
      <a:effectRef idx="0">
        <a:srgbClr val="00000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1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flat" dir="t"/>
    </dgm:scene3d>
    <dgm:sp3d/>
    <dgm:txPr/>
    <dgm:style>
      <a:lnRef idx="1">
        <a:srgbClr val="000000"/>
      </a:lnRef>
      <a:fillRef idx="2">
        <a:srgbClr val="000000"/>
      </a:fillRef>
      <a:effectRef idx="1">
        <a:srgbClr val="00000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86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Цепочка на слайде известна всем, кто работал с железом: чертёж, модель, станок, измерение. Сегодня в каждом звене сидит человек: конструктор переводит чертёж в модель, технолог пишет программу для станка, контролёр измеряет и решает, что делать с расхождением.</a:t>
            </a:r>
          </a:p>
          <a:p/>
          <a:p>
            <a:r>
              <a:t>Цель — оставить человека только в первом звене. Он говорит, что нужно, в любой удобной форме: текстом, фотографией, сканом, чертежом, физической деталью. Всё остальное система делает сама и — ключевое — сама исправляет свои ошибки.</a:t>
            </a:r>
          </a:p>
          <a:p/>
          <a:p>
            <a:r>
              <a:t>Оранжевая стрелка и есть продукт. Всё, что левее станка, сегодня делают десятки компаний. А сравнить то, что вышло, с тем, что задумано, и поправить модель — не умеет никто. Это не расстояние между двумя формами, это сравнение признаков: эта бобышка меньше, это скругление не то, у этой резьбы не тот шаг.</a:t>
            </a:r>
          </a:p>
          <a:p/>
          <a:p>
            <a:r>
              <a:t>Дальше три слайда — три проекта, каждый закрывает своё звено.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Первое звено. На входе физическая деталь — вот она на фотографии, клетка седла клапана. Её сканируют, и дальше задача: получить не просто поверхность, а параметрическую CAD-модель, которую можно редактировать.</a:t>
            </a:r>
          </a:p>
          <a:p>
            <a:endParaRPr/>
          </a:p>
          <a:p>
            <a:r>
              <a:t>Разница принципиальная. Скан даёт форму. Инженеру нужна история построения: эскиз, вытягивание, скругление, отверстия — с параметрами, которые можно менять. Меш этого не даёт: поменять в нём диаметр отверстия нельзя, можно только двигать вершины.</a:t>
            </a:r>
          </a:p>
          <a:p>
            <a:endParaRPr/>
          </a:p>
          <a:p>
            <a:r>
              <a:t>На видео — работа системы: слева загружается скан, справа она пишет программу CadQuery и итеративно её правит, сравнивая текущую реконструкцию с целевой формой. Именно итеративность здесь ключевая: с одного прохода мелкие детали не берутся.</a:t>
            </a:r>
          </a:p>
          <a:p>
            <a:endParaRPr/>
          </a:p>
          <a:p>
            <a:r>
              <a:t>Это самый зрелый из трёх проектов, по нему есть публикация.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Второе звено, и оно пока без результатов — проект в работе.</a:t>
            </a:r>
          </a:p>
          <a:p>
            <a:endParaRPr/>
          </a:p>
          <a:p>
            <a:r>
              <a:t>Задача. На входе чертёж: тот самый, по которому деталь и делали. Виды, разрезы, размеры, допуски,技 требования, штамп. На выходе — дерево построений и, как следствие, сама деталь.</a:t>
            </a:r>
          </a:p>
          <a:p>
            <a:endParaRPr/>
          </a:p>
          <a:p>
            <a:r>
              <a:t>Почему это отдельная задача, а не частный случай предыдущей. Чертёж — это не картинка детали, это документ с собственной грамматикой: проекционные связи между видами, разрезы, обозначения шероховатости и допусков, текстовые требования. Половина информации там не геометрическая. Зато чертёж, в отличие от скана, содержит ЗАМЫСЕЛ: размеры проставлены от баз, которые выбрал конструктор, и это прямая подсказка о порядке построения.</a:t>
            </a:r>
          </a:p>
          <a:p>
            <a:endParaRPr/>
          </a:p>
          <a:p>
            <a:r>
              <a:t>То есть скан даёт форму без замысла, а чертёж — замысел без формы. Задачи выглядят похоже, а информация на входе почти дополнительная.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Третье звено. На входе деталь — модель или чертёж, неважно. На выходе техпроцесс: какие операции, в каком порядке, каким инструментом, с какими режимами.</a:t>
            </a:r>
          </a:p>
          <a:p>
            <a:endParaRPr/>
          </a:p>
          <a:p>
            <a:r>
              <a:t>Внизу пример для нашей же клетки. Заготовка — пруток. Точение наружного контура и буртика. Расточка под седло. Фрезерование окна. Сверление пяти отверстий. Каждая стадия отличается от предыдущей ровно одной операцией, и на каждой показан инструмент, который её делает.</a:t>
            </a:r>
          </a:p>
          <a:p>
            <a:endParaRPr/>
          </a:p>
          <a:p>
            <a:r>
              <a:t>Почему это трудно. Геометрия детали не определяет техпроцесс однозначно: одну и ту же форму можно получить разными маршрутами, и выбор зависит от партии, парка станков, оснастки, доступа инструмента, жёсткости заготовки. Это снова недоопределённая задача, и решается она так же, как всё в этом курсе, — приорами: технологическими правилами и опытом, снятым с существующих техпроцессов.</a:t>
            </a:r>
          </a:p>
          <a:p>
            <a:endParaRPr/>
          </a:p>
          <a:p>
            <a:r>
              <a:t>Замыкание на первый слайд: без этого звена цепочка от замысла до детали рвётся ровно там, где начинается железо.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378230" y="1263535"/>
            <a:ext cx="11414760" cy="4339243"/>
          </a:xfrm>
          <a:prstGeom prst="rect">
            <a:avLst/>
          </a:prstGeom>
        </p:spPr>
        <p:txBody>
          <a:bodyPr/>
          <a:lstStyle>
            <a:lvl1pPr>
              <a:buNone/>
              <a:defRPr sz="24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>‹#›</a:t>
            </a:fld>
            <a:endParaRPr lang="ru-RU"/>
          </a:p>
        </p:txBody>
      </p:sp>
      <p:sp>
        <p:nvSpPr>
          <p:cNvPr id="10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 bwMode="auto">
          <a:xfrm>
            <a:off x="839788" y="1269076"/>
            <a:ext cx="5157787" cy="4405197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>
              <a:defRPr/>
            </a:pPr>
            <a:r>
              <a:rPr lang="ru-RU"/>
              <a:t>Текст текст 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 bwMode="auto">
          <a:xfrm>
            <a:off x="6172200" y="1269076"/>
            <a:ext cx="5183188" cy="4405197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>
              <a:defRPr/>
            </a:pPr>
            <a:r>
              <a:rPr lang="ru-RU"/>
              <a:t>Текст текст 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>03.09.2026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>‹#›</a:t>
            </a:fld>
            <a:endParaRPr lang="ru-RU"/>
          </a:p>
        </p:txBody>
      </p:sp>
      <p:sp>
        <p:nvSpPr>
          <p:cNvPr id="8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 bwMode="auto">
          <a:xfrm>
            <a:off x="378230" y="1269076"/>
            <a:ext cx="3550918" cy="440519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449263" indent="-449263">
              <a:buNone/>
              <a:defRPr/>
            </a:lvl2pPr>
            <a:lvl3pPr marL="266700" indent="-88900">
              <a:buNone/>
              <a:defRPr/>
            </a:lvl3pPr>
          </a:lstStyle>
          <a:p>
            <a:pPr lvl="1">
              <a:defRPr/>
            </a:pPr>
            <a:r>
              <a:rPr lang="ru-RU"/>
              <a:t>Текст текст текст 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>03.09.2026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>‹#›</a:t>
            </a:fld>
            <a:endParaRPr lang="ru-RU"/>
          </a:p>
        </p:txBody>
      </p:sp>
      <p:sp>
        <p:nvSpPr>
          <p:cNvPr id="5" name="Объект 3"/>
          <p:cNvSpPr>
            <a:spLocks noGrp="1"/>
          </p:cNvSpPr>
          <p:nvPr>
            <p:ph sz="half" idx="13" hasCustomPrompt="1"/>
          </p:nvPr>
        </p:nvSpPr>
        <p:spPr bwMode="auto">
          <a:xfrm>
            <a:off x="4320540" y="1269076"/>
            <a:ext cx="3550918" cy="440519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449263" indent="-449263">
              <a:buNone/>
              <a:defRPr/>
            </a:lvl2pPr>
            <a:lvl3pPr marL="266700" indent="-88900">
              <a:buNone/>
              <a:defRPr/>
            </a:lvl3pPr>
          </a:lstStyle>
          <a:p>
            <a:pPr lvl="1">
              <a:defRPr/>
            </a:pPr>
            <a:r>
              <a:rPr lang="ru-RU"/>
              <a:t>Текст текст текст </a:t>
            </a:r>
            <a:endParaRPr/>
          </a:p>
        </p:txBody>
      </p:sp>
      <p:sp>
        <p:nvSpPr>
          <p:cNvPr id="8" name="Объект 3"/>
          <p:cNvSpPr>
            <a:spLocks noGrp="1"/>
          </p:cNvSpPr>
          <p:nvPr>
            <p:ph sz="half" idx="14" hasCustomPrompt="1"/>
          </p:nvPr>
        </p:nvSpPr>
        <p:spPr bwMode="auto">
          <a:xfrm>
            <a:off x="8262850" y="1269076"/>
            <a:ext cx="3550918" cy="440519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449263" indent="-449263">
              <a:buNone/>
              <a:defRPr/>
            </a:lvl2pPr>
            <a:lvl3pPr marL="266700" indent="-88900">
              <a:buNone/>
              <a:defRPr/>
            </a:lvl3pPr>
          </a:lstStyle>
          <a:p>
            <a:pPr lvl="1">
              <a:defRPr/>
            </a:pPr>
            <a:r>
              <a:rPr lang="ru-RU"/>
              <a:t>Текст текст текст </a:t>
            </a:r>
            <a:endParaRPr/>
          </a:p>
        </p:txBody>
      </p:sp>
      <p:sp>
        <p:nvSpPr>
          <p:cNvPr id="10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>03.09.2026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332403"/>
            <a:ext cx="10300855" cy="435133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>03.09.2026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>‹#›</a:t>
            </a:fld>
            <a:endParaRPr lang="ru-RU"/>
          </a:p>
        </p:txBody>
      </p:sp>
      <p:sp>
        <p:nvSpPr>
          <p:cNvPr id="5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>03.09.2026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>‹#›</a:t>
            </a:fld>
            <a:endParaRPr lang="ru-RU"/>
          </a:p>
        </p:txBody>
      </p:sp>
      <p:graphicFrame>
        <p:nvGraphicFramePr>
          <p:cNvPr id="8" name="Диаграмма 7"/>
          <p:cNvGraphicFramePr>
            <a:graphicFrameLocks/>
          </p:cNvGraphicFramePr>
          <p:nvPr userDrawn="1"/>
        </p:nvGraphicFramePr>
        <p:xfrm>
          <a:off x="346231" y="2710831"/>
          <a:ext cx="11488504" cy="2872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Заголовок 6"/>
          <p:cNvSpPr>
            <a:spLocks noGrp="1"/>
          </p:cNvSpPr>
          <p:nvPr>
            <p:ph type="title" hasCustomPrompt="1"/>
          </p:nvPr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57188" y="1130300"/>
            <a:ext cx="11477626" cy="1580531"/>
          </a:xfrm>
        </p:spPr>
        <p:txBody>
          <a:bodyPr/>
          <a:lstStyle>
            <a:lvl2pPr marL="508000" indent="-419100">
              <a:buNone/>
              <a:defRPr/>
            </a:lvl2pPr>
          </a:lstStyle>
          <a:p>
            <a:pPr lvl="1">
              <a:defRPr/>
            </a:pPr>
            <a:r>
              <a:rPr lang="ru-RU"/>
              <a:t>Текст текст текст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987424"/>
            <a:ext cx="3932237" cy="1069975"/>
          </a:xfrm>
          <a:prstGeom prst="rect">
            <a:avLst/>
          </a:prstGeo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8FBA86F-3969-424E-BF66-1900EAFA6A8E}" type="datetimeFigureOut">
              <a:rPr lang="ru-RU"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59E9C92-888A-4702-9F01-76222400F383}" type="slidenum">
              <a:rPr lang="ru-RU"/>
              <a:t>‹#›</a:t>
            </a:fld>
            <a:endParaRPr lang="ru-RU"/>
          </a:p>
        </p:txBody>
      </p:sp>
      <p:sp>
        <p:nvSpPr>
          <p:cNvPr id="8" name="Заголовок 6"/>
          <p:cNvSpPr txBox="1"/>
          <p:nvPr userDrawn="1"/>
        </p:nvSpPr>
        <p:spPr bwMode="auto">
          <a:xfrm>
            <a:off x="2123902" y="136526"/>
            <a:ext cx="9229898" cy="365126"/>
          </a:xfrm>
          <a:prstGeom prst="rect">
            <a:avLst/>
          </a:prstGeo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6229" y="3602038"/>
            <a:ext cx="1148850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 sz="2400">
                <a:solidFill>
                  <a:schemeClr val="bg1"/>
                </a:solidFill>
                <a:latin typeface="Moscow University"/>
              </a:rPr>
              <a:t>Текст текст текст текст текст текст текст текст текст текст текст текст 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/>
          </a:p>
        </p:txBody>
      </p:sp>
      <p:sp>
        <p:nvSpPr>
          <p:cNvPr id="7" name="Заголовок 1"/>
          <p:cNvSpPr txBox="1"/>
          <p:nvPr userDrawn="1"/>
        </p:nvSpPr>
        <p:spPr bwMode="auto">
          <a:xfrm>
            <a:off x="1885603" y="22228"/>
            <a:ext cx="10515600" cy="57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9" name="Прямоугольник с одним вырезанным углом 2"/>
          <p:cNvSpPr/>
          <p:nvPr userDrawn="1"/>
        </p:nvSpPr>
        <p:spPr bwMode="auto">
          <a:xfrm>
            <a:off x="346230" y="1128079"/>
            <a:ext cx="3613226" cy="1844983"/>
          </a:xfrm>
          <a:prstGeom prst="snip1Rect">
            <a:avLst>
              <a:gd name="adj" fmla="val 16667"/>
            </a:avLst>
          </a:prstGeom>
          <a:ln w="57150">
            <a:solidFill>
              <a:srgbClr val="7F5C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 sz="1600">
              <a:solidFill>
                <a:srgbClr val="0B0026"/>
              </a:solidFill>
            </a:endParaRPr>
          </a:p>
        </p:txBody>
      </p:sp>
      <p:sp>
        <p:nvSpPr>
          <p:cNvPr id="11" name="Прямоугольник с одним вырезанным углом 12"/>
          <p:cNvSpPr/>
          <p:nvPr userDrawn="1"/>
        </p:nvSpPr>
        <p:spPr bwMode="auto">
          <a:xfrm>
            <a:off x="4292410" y="1128078"/>
            <a:ext cx="3613226" cy="1844983"/>
          </a:xfrm>
          <a:prstGeom prst="snip1Rect">
            <a:avLst>
              <a:gd name="adj" fmla="val 16667"/>
            </a:avLst>
          </a:prstGeom>
          <a:ln w="57150">
            <a:solidFill>
              <a:srgbClr val="7F5C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 sz="1600">
              <a:solidFill>
                <a:srgbClr val="0B0026"/>
              </a:solidFill>
            </a:endParaRPr>
          </a:p>
        </p:txBody>
      </p:sp>
      <p:sp>
        <p:nvSpPr>
          <p:cNvPr id="13" name="Прямоугольник с одним вырезанным углом 13"/>
          <p:cNvSpPr/>
          <p:nvPr userDrawn="1"/>
        </p:nvSpPr>
        <p:spPr bwMode="auto">
          <a:xfrm>
            <a:off x="8221509" y="1128078"/>
            <a:ext cx="3613226" cy="1844983"/>
          </a:xfrm>
          <a:prstGeom prst="snip1Rect">
            <a:avLst>
              <a:gd name="adj" fmla="val 16667"/>
            </a:avLst>
          </a:prstGeom>
          <a:ln w="57150">
            <a:solidFill>
              <a:srgbClr val="7F5C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 sz="1600">
              <a:solidFill>
                <a:srgbClr val="0B0026"/>
              </a:solidFill>
            </a:endParaRPr>
          </a:p>
        </p:txBody>
      </p:sp>
      <p:sp>
        <p:nvSpPr>
          <p:cNvPr id="22" name="Текст 21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6230" y="1269077"/>
            <a:ext cx="3613226" cy="1703984"/>
          </a:xfrm>
          <a:prstGeom prst="rect">
            <a:avLst/>
          </a:prstGeom>
        </p:spPr>
        <p:txBody>
          <a:bodyPr/>
          <a:lstStyle>
            <a:lvl4pPr marL="177800" indent="-88900">
              <a:buNone/>
              <a:defRPr sz="1600"/>
            </a:lvl4pPr>
            <a:lvl5pPr marL="177800" indent="-88900">
              <a:buNone/>
              <a:defRPr sz="1600"/>
            </a:lvl5pPr>
          </a:lstStyle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3" name="Текст 2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339110" y="1269077"/>
            <a:ext cx="3613226" cy="1703984"/>
          </a:xfrm>
          <a:prstGeom prst="rect">
            <a:avLst/>
          </a:prstGeom>
        </p:spPr>
        <p:txBody>
          <a:bodyPr/>
          <a:lstStyle>
            <a:lvl4pPr marL="177800" indent="-88900">
              <a:buNone/>
              <a:defRPr sz="1600"/>
            </a:lvl4pPr>
            <a:lvl5pPr marL="177800" indent="-88900">
              <a:buNone/>
              <a:defRPr sz="1600"/>
            </a:lvl5pPr>
          </a:lstStyle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4" name="Текст 21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8268209" y="1248263"/>
            <a:ext cx="3613226" cy="1703984"/>
          </a:xfrm>
          <a:prstGeom prst="rect">
            <a:avLst/>
          </a:prstGeom>
        </p:spPr>
        <p:txBody>
          <a:bodyPr/>
          <a:lstStyle>
            <a:lvl4pPr marL="177800" indent="-88900">
              <a:buNone/>
              <a:defRPr sz="1600"/>
            </a:lvl4pPr>
            <a:lvl5pPr marL="177800" indent="-88900">
              <a:buNone/>
              <a:defRPr sz="1600"/>
            </a:lvl5pPr>
          </a:lstStyle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>
              <a:latin typeface="Moscow University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>
              <a:latin typeface="Moscow University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 marL="0" indent="0"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16060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1" y="1265900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+mn-lt"/>
              </a:defRPr>
            </a:lvl1pPr>
            <a:lvl2pPr>
              <a:defRPr sz="1800">
                <a:solidFill>
                  <a:schemeClr val="bg1"/>
                </a:solidFill>
                <a:latin typeface="+mn-lt"/>
              </a:defRPr>
            </a:lvl2pPr>
            <a:lvl3pPr>
              <a:defRPr sz="1600">
                <a:solidFill>
                  <a:schemeClr val="bg1"/>
                </a:solidFill>
                <a:latin typeface="+mn-lt"/>
              </a:defRPr>
            </a:lvl3pPr>
            <a:lvl4pPr>
              <a:defRPr sz="1600">
                <a:solidFill>
                  <a:schemeClr val="bg1"/>
                </a:solidFill>
                <a:latin typeface="+mn-lt"/>
              </a:defRPr>
            </a:lvl4pPr>
            <a:lvl5pPr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265900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/>
          </a:p>
        </p:txBody>
      </p:sp>
      <p:sp>
        <p:nvSpPr>
          <p:cNvPr id="18" name="Рисунок 17"/>
          <p:cNvSpPr>
            <a:spLocks noGrp="1"/>
          </p:cNvSpPr>
          <p:nvPr>
            <p:ph type="pic" sz="quarter" idx="13"/>
          </p:nvPr>
        </p:nvSpPr>
        <p:spPr bwMode="auto">
          <a:xfrm>
            <a:off x="838198" y="3707476"/>
            <a:ext cx="3102034" cy="23718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" name="Рисунок 17"/>
          <p:cNvSpPr>
            <a:spLocks noGrp="1"/>
          </p:cNvSpPr>
          <p:nvPr>
            <p:ph type="pic" sz="quarter" idx="14"/>
          </p:nvPr>
        </p:nvSpPr>
        <p:spPr bwMode="auto">
          <a:xfrm>
            <a:off x="4544982" y="3707474"/>
            <a:ext cx="3102034" cy="23718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" name="Рисунок 17"/>
          <p:cNvSpPr>
            <a:spLocks noGrp="1"/>
          </p:cNvSpPr>
          <p:nvPr>
            <p:ph type="pic" sz="quarter" idx="15"/>
          </p:nvPr>
        </p:nvSpPr>
        <p:spPr bwMode="auto">
          <a:xfrm>
            <a:off x="8251769" y="3707474"/>
            <a:ext cx="3102034" cy="23718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838198" y="1063626"/>
            <a:ext cx="10515601" cy="576246"/>
          </a:xfrm>
          <a:prstGeom prst="rect">
            <a:avLst/>
          </a:prstGeom>
        </p:spPr>
        <p:txBody>
          <a:bodyPr/>
          <a:lstStyle>
            <a:lvl4pPr marL="228600" indent="-228600">
              <a:buNone/>
              <a:defRPr>
                <a:solidFill>
                  <a:schemeClr val="bg1"/>
                </a:solidFill>
                <a:latin typeface="Moscow University"/>
              </a:defRPr>
            </a:lvl4pPr>
            <a:lvl5pPr>
              <a:buNone/>
              <a:defRPr>
                <a:solidFill>
                  <a:schemeClr val="bg1"/>
                </a:solidFill>
                <a:latin typeface="Moscow University"/>
              </a:defRPr>
            </a:lvl5pPr>
          </a:lstStyle>
          <a:p>
            <a:pPr lvl="3">
              <a:defRPr/>
            </a:pPr>
            <a:r>
              <a:rPr lang="ru-RU"/>
              <a:t>Текст текст </a:t>
            </a:r>
            <a:endParaRPr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38198" y="1862050"/>
            <a:ext cx="10515601" cy="16736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3pPr>
              <a:buNone/>
              <a:defRPr/>
            </a:lvl3pPr>
          </a:lstStyle>
          <a:p>
            <a:pPr marL="342900" indent="-342900">
              <a:lnSpc>
                <a:spcPct val="150000"/>
              </a:lnSpc>
              <a:buSzPct val="250000"/>
              <a:buBlip>
                <a:blip r:embed="rId2"/>
              </a:buBlip>
              <a:defRPr/>
            </a:pPr>
            <a:r>
              <a:rPr lang="ru-RU" sz="1800">
                <a:solidFill>
                  <a:schemeClr val="bg1"/>
                </a:solidFill>
                <a:latin typeface="Moscow University"/>
              </a:rPr>
              <a:t>Текст текст текст текст текст текст текст текст текст текст текст текст</a:t>
            </a:r>
            <a:endParaRPr lang="en-US" sz="1800">
              <a:solidFill>
                <a:schemeClr val="bg1"/>
              </a:solidFill>
              <a:latin typeface="Moscow University"/>
            </a:endParaRPr>
          </a:p>
          <a:p>
            <a:pPr marL="342900" indent="-342900">
              <a:lnSpc>
                <a:spcPct val="150000"/>
              </a:lnSpc>
              <a:buSzPct val="250000"/>
              <a:buBlip>
                <a:blip r:embed="rId2"/>
              </a:buBlip>
              <a:defRPr/>
            </a:pPr>
            <a:r>
              <a:rPr lang="ru-RU" sz="1800">
                <a:solidFill>
                  <a:schemeClr val="bg1"/>
                </a:solidFill>
                <a:latin typeface="Moscow University"/>
              </a:rPr>
              <a:t>Текст текст текст текст текст текст текст </a:t>
            </a:r>
            <a:endParaRPr/>
          </a:p>
          <a:p>
            <a:pPr marL="342900" indent="-342900">
              <a:lnSpc>
                <a:spcPct val="150000"/>
              </a:lnSpc>
              <a:buSzPct val="250000"/>
              <a:buBlip>
                <a:blip r:embed="rId2"/>
              </a:buBlip>
              <a:defRPr/>
            </a:pPr>
            <a:r>
              <a:rPr lang="ru-RU" sz="1800">
                <a:solidFill>
                  <a:schemeClr val="bg1"/>
                </a:solidFill>
                <a:latin typeface="Moscow University"/>
              </a:rPr>
              <a:t>Текст </a:t>
            </a:r>
            <a:endParaRPr lang="en-US" sz="1800">
              <a:solidFill>
                <a:schemeClr val="bg1"/>
              </a:solidFill>
              <a:latin typeface="Moscow Universit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/>
          </a:p>
        </p:txBody>
      </p:sp>
      <p:graphicFrame>
        <p:nvGraphicFramePr>
          <p:cNvPr id="9" name="Схема 8"/>
          <p:cNvGraphicFramePr>
            <a:graphicFrameLocks/>
          </p:cNvGraphicFramePr>
          <p:nvPr userDrawn="1"/>
        </p:nvGraphicFramePr>
        <p:xfrm>
          <a:off x="140950" y="1065403"/>
          <a:ext cx="5528330" cy="4964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Заголовок 1"/>
          <p:cNvSpPr>
            <a:spLocks noGrp="1"/>
          </p:cNvSpPr>
          <p:nvPr>
            <p:ph type="title"/>
          </p:nvPr>
        </p:nvSpPr>
        <p:spPr bwMode="auto">
          <a:xfrm>
            <a:off x="1885603" y="22228"/>
            <a:ext cx="10515600" cy="57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145213" y="1279525"/>
            <a:ext cx="5208587" cy="44958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ru-RU"/>
              <a:t>Текст текст 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987425"/>
            <a:ext cx="3932237" cy="4881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987424"/>
            <a:ext cx="3932237" cy="1069975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/>
          </a:p>
        </p:txBody>
      </p:sp>
      <p:sp>
        <p:nvSpPr>
          <p:cNvPr id="8" name="Заголовок 1"/>
          <p:cNvSpPr txBox="1"/>
          <p:nvPr userDrawn="1"/>
        </p:nvSpPr>
        <p:spPr bwMode="auto">
          <a:xfrm>
            <a:off x="1885603" y="22228"/>
            <a:ext cx="10515600" cy="57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Тема слайда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5157886" y="156203"/>
            <a:ext cx="1876227" cy="1868129"/>
          </a:xfrm>
          <a:prstGeom prst="rect">
            <a:avLst/>
          </a:prstGeom>
        </p:spPr>
      </p:pic>
      <p:sp>
        <p:nvSpPr>
          <p:cNvPr id="23" name="Заголовок 1"/>
          <p:cNvSpPr txBox="1"/>
          <p:nvPr userDrawn="1"/>
        </p:nvSpPr>
        <p:spPr bwMode="auto">
          <a:xfrm>
            <a:off x="3071180" y="2737352"/>
            <a:ext cx="215026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400" b="1">
                <a:solidFill>
                  <a:schemeClr val="bg1"/>
                </a:solidFill>
                <a:latin typeface="Moscow University"/>
              </a:rPr>
              <a:t>ТЕЛЕГРАМ-КАНАЛ </a:t>
            </a:r>
            <a:br>
              <a:rPr lang="ru-RU" sz="1400" b="1">
                <a:solidFill>
                  <a:schemeClr val="bg1"/>
                </a:solidFill>
                <a:latin typeface="Moscow University"/>
              </a:rPr>
            </a:br>
            <a:r>
              <a:rPr lang="ru-RU" sz="1400" b="1">
                <a:solidFill>
                  <a:schemeClr val="bg1"/>
                </a:solidFill>
                <a:latin typeface="Moscow University"/>
              </a:rPr>
              <a:t>ФАКУЛЬТЕТА</a:t>
            </a:r>
            <a:endParaRPr/>
          </a:p>
        </p:txBody>
      </p:sp>
      <p:sp>
        <p:nvSpPr>
          <p:cNvPr id="25" name="Заголовок 1"/>
          <p:cNvSpPr txBox="1"/>
          <p:nvPr userDrawn="1"/>
        </p:nvSpPr>
        <p:spPr bwMode="auto">
          <a:xfrm>
            <a:off x="5072620" y="2737352"/>
            <a:ext cx="215026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>
              <a:lnSpc>
                <a:spcPct val="90000"/>
              </a:lnSpc>
              <a:spcBef>
                <a:spcPts val="0"/>
              </a:spcBef>
              <a:buNone/>
              <a:defRPr sz="3300">
                <a:solidFill>
                  <a:schemeClr val="tx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400" b="1">
                <a:solidFill>
                  <a:schemeClr val="bg1"/>
                </a:solidFill>
                <a:latin typeface="Moscow University"/>
              </a:rPr>
              <a:t>СООБЩЕСТВО </a:t>
            </a:r>
            <a:endParaRPr/>
          </a:p>
          <a:p>
            <a:pPr algn="ctr">
              <a:defRPr/>
            </a:pPr>
            <a:r>
              <a:rPr lang="ru-RU" sz="1400" b="1">
                <a:solidFill>
                  <a:schemeClr val="bg1"/>
                </a:solidFill>
                <a:latin typeface="Moscow University"/>
              </a:rPr>
              <a:t>В ВК</a:t>
            </a:r>
            <a:endParaRPr/>
          </a:p>
        </p:txBody>
      </p:sp>
      <p:sp>
        <p:nvSpPr>
          <p:cNvPr id="27" name="Заголовок 1"/>
          <p:cNvSpPr txBox="1"/>
          <p:nvPr userDrawn="1"/>
        </p:nvSpPr>
        <p:spPr bwMode="auto">
          <a:xfrm>
            <a:off x="7074067" y="2737352"/>
            <a:ext cx="215026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>
              <a:lnSpc>
                <a:spcPct val="90000"/>
              </a:lnSpc>
              <a:spcBef>
                <a:spcPts val="0"/>
              </a:spcBef>
              <a:buNone/>
              <a:defRPr sz="3300">
                <a:solidFill>
                  <a:schemeClr val="tx1"/>
                </a:solidFill>
                <a:latin typeface="Moscow University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400" b="1">
                <a:solidFill>
                  <a:schemeClr val="bg1"/>
                </a:solidFill>
                <a:latin typeface="Moscow University"/>
              </a:rPr>
              <a:t>САЙТ </a:t>
            </a:r>
            <a:br>
              <a:rPr lang="ru-RU" sz="1400" b="1">
                <a:solidFill>
                  <a:schemeClr val="bg1"/>
                </a:solidFill>
                <a:latin typeface="Moscow University"/>
              </a:rPr>
            </a:br>
            <a:r>
              <a:rPr lang="ru-RU" sz="1400" b="1">
                <a:solidFill>
                  <a:schemeClr val="bg1"/>
                </a:solidFill>
                <a:latin typeface="Moscow University"/>
              </a:rPr>
              <a:t>ФАКУЛЬТЕТА</a:t>
            </a:r>
            <a:endParaRPr/>
          </a:p>
        </p:txBody>
      </p:sp>
      <p:pic>
        <p:nvPicPr>
          <p:cNvPr id="29" name="Рисунок 28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384967" y="3307410"/>
            <a:ext cx="1528466" cy="1528466"/>
          </a:xfrm>
          <a:prstGeom prst="rect">
            <a:avLst/>
          </a:prstGeom>
        </p:spPr>
      </p:pic>
      <p:pic>
        <p:nvPicPr>
          <p:cNvPr id="31" name="Рисунок 30"/>
          <p:cNvPicPr>
            <a:picLocks noChangeAspect="1"/>
          </p:cNvPicPr>
          <p:nvPr userDrawn="1"/>
        </p:nvPicPr>
        <p:blipFill>
          <a:blip r:embed="rId4">
            <a:grayscl/>
          </a:blip>
          <a:srcRect l="14245" t="6271" r="14245" b="22220"/>
          <a:stretch/>
        </p:blipFill>
        <p:spPr bwMode="auto">
          <a:xfrm>
            <a:off x="3382077" y="3307410"/>
            <a:ext cx="1528466" cy="1528466"/>
          </a:xfrm>
          <a:prstGeom prst="rect">
            <a:avLst/>
          </a:prstGeom>
        </p:spPr>
      </p:pic>
      <p:pic>
        <p:nvPicPr>
          <p:cNvPr id="33" name="Рисунок 32"/>
          <p:cNvPicPr>
            <a:picLocks noChangeAspect="1"/>
          </p:cNvPicPr>
          <p:nvPr userDrawn="1"/>
        </p:nvPicPr>
        <p:blipFill>
          <a:blip r:embed="rId5">
            <a:grayscl/>
          </a:blip>
          <a:srcRect l="22287" t="50000" r="22483" b="25283"/>
          <a:stretch/>
        </p:blipFill>
        <p:spPr bwMode="auto">
          <a:xfrm>
            <a:off x="5361212" y="3307410"/>
            <a:ext cx="1573086" cy="1529898"/>
          </a:xfrm>
          <a:prstGeom prst="rect">
            <a:avLst/>
          </a:prstGeom>
        </p:spPr>
      </p:pic>
      <p:sp>
        <p:nvSpPr>
          <p:cNvPr id="35" name="Заголовок 1"/>
          <p:cNvSpPr txBox="1"/>
          <p:nvPr userDrawn="1"/>
        </p:nvSpPr>
        <p:spPr bwMode="auto">
          <a:xfrm>
            <a:off x="2705991" y="5195871"/>
            <a:ext cx="215026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1600">
                <a:solidFill>
                  <a:schemeClr val="bg1"/>
                </a:solidFill>
                <a:latin typeface="Moscow University"/>
              </a:rPr>
              <a:t>https://t.me/ai_msu</a:t>
            </a:r>
            <a:endParaRPr lang="ru-RU" sz="1600" b="1">
              <a:solidFill>
                <a:schemeClr val="bg1"/>
              </a:solidFill>
              <a:latin typeface="Moscow University"/>
            </a:endParaRPr>
          </a:p>
        </p:txBody>
      </p:sp>
      <p:sp>
        <p:nvSpPr>
          <p:cNvPr id="41" name="Заголовок 1"/>
          <p:cNvSpPr txBox="1"/>
          <p:nvPr userDrawn="1"/>
        </p:nvSpPr>
        <p:spPr bwMode="auto">
          <a:xfrm>
            <a:off x="4883846" y="5195870"/>
            <a:ext cx="2424309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1600">
                <a:solidFill>
                  <a:schemeClr val="bg1"/>
                </a:solidFill>
                <a:latin typeface="Moscow University"/>
              </a:rPr>
              <a:t>https://vk.com/ai_msu</a:t>
            </a:r>
            <a:endParaRPr lang="ru-RU" sz="1600" b="1">
              <a:solidFill>
                <a:schemeClr val="bg1"/>
              </a:solidFill>
              <a:latin typeface="Moscow University"/>
            </a:endParaRPr>
          </a:p>
        </p:txBody>
      </p:sp>
      <p:sp>
        <p:nvSpPr>
          <p:cNvPr id="43" name="Заголовок 1"/>
          <p:cNvSpPr txBox="1"/>
          <p:nvPr userDrawn="1"/>
        </p:nvSpPr>
        <p:spPr bwMode="auto">
          <a:xfrm>
            <a:off x="7335740" y="5195870"/>
            <a:ext cx="2502954" cy="5376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1600">
                <a:solidFill>
                  <a:schemeClr val="bg1"/>
                </a:solidFill>
                <a:latin typeface="Moscow University"/>
              </a:rPr>
              <a:t>https://www.ai.msu.ru/</a:t>
            </a:r>
            <a:endParaRPr lang="ru-RU" sz="1600" b="1">
              <a:solidFill>
                <a:schemeClr val="bg1"/>
              </a:solidFill>
              <a:latin typeface="Moscow University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8051" y="2687147"/>
            <a:ext cx="11493731" cy="1325563"/>
          </a:xfrm>
          <a:prstGeom prst="rect">
            <a:avLst/>
          </a:prstGeom>
        </p:spPr>
        <p:txBody>
          <a:bodyPr/>
          <a:lstStyle>
            <a:lvl1pPr algn="ctr">
              <a:defRPr sz="4150">
                <a:solidFill>
                  <a:schemeClr val="bg1"/>
                </a:solidFill>
                <a:latin typeface="Moscow University"/>
              </a:defRPr>
            </a:lvl1pPr>
          </a:lstStyle>
          <a:p>
            <a:pPr>
              <a:defRPr/>
            </a:pPr>
            <a:r>
              <a:rPr lang="ru-RU"/>
              <a:t>Спасибо!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11" Type="http://schemas.openxmlformats.org/officeDocument/2006/relationships/image" Target="../media/image3.png"/><Relationship Id="rId12" Type="http://schemas.openxmlformats.org/officeDocument/2006/relationships/image" Target="../media/image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3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9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378230" y="1274618"/>
            <a:ext cx="11270672" cy="4328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  <a:p>
            <a:pPr lvl="4">
              <a:defRPr/>
            </a:pPr>
            <a:endParaRPr lang="ru-RU"/>
          </a:p>
          <a:p>
            <a:pPr marL="342900" indent="-342900">
              <a:lnSpc>
                <a:spcPct val="150000"/>
              </a:lnSpc>
              <a:buSzPct val="200000"/>
              <a:buBlip>
                <a:blip r:embed="rId10"/>
              </a:buBlip>
              <a:defRPr/>
            </a:pPr>
            <a:r>
              <a:rPr lang="ru-RU" sz="1600">
                <a:solidFill>
                  <a:srgbClr val="0B0026"/>
                </a:solidFill>
                <a:latin typeface="Moscow University"/>
              </a:rPr>
              <a:t>Текст текст текст текст текст текст текст текст текст текст текст текст текст текст текст текст текст текст текст текст текст </a:t>
            </a:r>
            <a:endParaRPr/>
          </a:p>
          <a:p>
            <a:pPr marL="342900" indent="-342900">
              <a:lnSpc>
                <a:spcPct val="150000"/>
              </a:lnSpc>
              <a:buSzPct val="200000"/>
              <a:buBlip>
                <a:blip r:embed="rId10"/>
              </a:buBlip>
              <a:defRPr/>
            </a:pPr>
            <a:r>
              <a:rPr lang="ru-RU" sz="1600">
                <a:solidFill>
                  <a:srgbClr val="0B0026"/>
                </a:solidFill>
                <a:latin typeface="Moscow University"/>
              </a:rPr>
              <a:t>Текст текст текст текст текст текст текст текст текст текст текст текст текст текст текст текст текст текст </a:t>
            </a:r>
            <a:endParaRPr/>
          </a:p>
          <a:p>
            <a:pPr marL="342900" indent="-342900">
              <a:lnSpc>
                <a:spcPct val="150000"/>
              </a:lnSpc>
              <a:buSzPct val="200000"/>
              <a:buBlip>
                <a:blip r:embed="rId10"/>
              </a:buBlip>
              <a:defRPr/>
            </a:pPr>
            <a:r>
              <a:rPr lang="ru-RU" sz="1600">
                <a:solidFill>
                  <a:srgbClr val="0B0026"/>
                </a:solidFill>
                <a:latin typeface="Moscow University"/>
              </a:rPr>
              <a:t>Текст </a:t>
            </a:r>
            <a:endParaRPr/>
          </a:p>
          <a:p>
            <a:pPr lvl="4">
              <a:defRPr/>
            </a:pP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7823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oscow University"/>
              </a:defRPr>
            </a:lvl1pPr>
          </a:lstStyle>
          <a:p>
            <a:pPr>
              <a:defRPr/>
            </a:pPr>
            <a:fld id="{78FBA86F-3969-424E-BF66-1900EAFA6A8E}" type="datetimeFigureOut">
              <a:rPr lang="ru-RU"/>
              <a:t>03.09.2026</a:t>
            </a:fld>
            <a:endParaRPr lang="ru-RU">
              <a:latin typeface="Moscow University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scow University"/>
              </a:defRPr>
            </a:lvl1pPr>
          </a:lstStyle>
          <a:p>
            <a:pPr>
              <a:defRPr/>
            </a:pPr>
            <a:fld id="{A59E9C92-888A-4702-9F01-76222400F383}" type="slidenum">
              <a:rPr lang="ru-RU"/>
              <a:t>‹#›</a:t>
            </a:fld>
            <a:endParaRPr lang="ru-RU">
              <a:latin typeface="Moscow University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2400">
          <a:solidFill>
            <a:schemeClr val="bg1"/>
          </a:solidFill>
          <a:latin typeface="Moscow University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tx1"/>
          </a:solidFill>
          <a:latin typeface="Moscow University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Moscow University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Moscow University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Moscow University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Moscow University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1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85603" y="22228"/>
            <a:ext cx="10515600" cy="576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Тема слайда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oscow University"/>
              </a:defRPr>
            </a:lvl1pPr>
          </a:lstStyle>
          <a:p>
            <a:pPr>
              <a:defRPr/>
            </a:pPr>
            <a:fld id="{B9674595-3129-4639-A4F2-F4DFF4C2111C}" type="datetimeFigureOut">
              <a:rPr lang="ru-RU"/>
              <a:t>03.09.2026</a:t>
            </a:fld>
            <a:endParaRPr lang="ru-RU">
              <a:latin typeface="Moscow University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scow University"/>
              </a:defRPr>
            </a:lvl1pPr>
          </a:lstStyle>
          <a:p>
            <a:pPr>
              <a:defRPr/>
            </a:pPr>
            <a:fld id="{7398209D-F494-474A-BCDA-899ED940DD55}" type="slidenum">
              <a:rPr lang="ru-RU"/>
              <a:t>‹#›</a:t>
            </a:fld>
            <a:endParaRPr lang="ru-RU">
              <a:latin typeface="Moscow University"/>
            </a:endParaRPr>
          </a:p>
        </p:txBody>
      </p:sp>
      <p:cxnSp>
        <p:nvCxnSpPr>
          <p:cNvPr id="7" name="Прямая соединительная линия 6"/>
          <p:cNvCxnSpPr>
            <a:cxnSpLocks/>
          </p:cNvCxnSpPr>
          <p:nvPr userDrawn="1"/>
        </p:nvCxnSpPr>
        <p:spPr bwMode="auto">
          <a:xfrm>
            <a:off x="0" y="613088"/>
            <a:ext cx="12280739" cy="37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12"/>
          <a:stretch/>
        </p:blipFill>
        <p:spPr bwMode="auto">
          <a:xfrm>
            <a:off x="180289" y="97309"/>
            <a:ext cx="1315822" cy="4260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2400">
          <a:solidFill>
            <a:schemeClr val="bg1"/>
          </a:solidFill>
          <a:latin typeface="Moscow University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4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одзаголовок 2"/>
          <p:cNvSpPr txBox="1"/>
          <p:nvPr userDrawn="1"/>
        </p:nvSpPr>
        <p:spPr bwMode="auto">
          <a:xfrm>
            <a:off x="346229" y="3602038"/>
            <a:ext cx="11488505" cy="1655762"/>
          </a:xfrm>
          <a:prstGeom prst="rect">
            <a:avLst/>
          </a:prstGeom>
        </p:spPr>
        <p:txBody>
          <a:bodyPr/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>
              <a:latin typeface="Moscow University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Куда мы идём: автономный завод</a:t>
            </a:r>
          </a:p>
        </p:txBody>
      </p:sp>
      <p:pic>
        <p:nvPicPr>
          <p:cNvPr id="4" name="Picture 3" descr="factory_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94322"/>
            <a:ext cx="11091672" cy="28806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D00C3"/>
                </a:solidFill>
                <a:latin typeface="Arial"/>
              </a:rPr>
              <a:t>Сегодня в каждом звене человек. Цель — оставить его только в первом.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916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555560"/>
                </a:solidFill>
                <a:latin typeface="Arial"/>
              </a:rPr>
              <a:t>станок: Stilfehler, CC BY-SA 4.0 · измерительная машина: AB Technology (Newark) Ltd., CC BY-SA 4.0 — Wikimedia Commons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lang="ru-RU" sz="2000" dirty="0">
                <a:solidFill>
                  <a:srgbClr val="FFFFFF"/>
                </a:solidFill>
              </a:rPr>
              <a:t>m</a:t>
            </a:r>
            <a:r>
              <a:rPr lang="en-US" sz="2000" dirty="0">
                <a:solidFill>
                  <a:srgbClr val="FFFFFF"/>
                </a:solidFill>
              </a:rPr>
              <a:t>esh2cad</a:t>
            </a:r>
            <a:r>
              <a:rPr lang="ru-RU" sz="2000" dirty="0">
                <a:solidFill>
                  <a:srgbClr val="FFFFFF"/>
                </a:solidFill>
              </a:rPr>
              <a:t>: </a:t>
            </a:r>
            <a:r>
              <a:rPr lang="ru-RU" sz="2000" b="0" dirty="0">
                <a:solidFill>
                  <a:srgbClr val="FFFFFF"/>
                </a:solidFill>
                <a:latin typeface="Moscow University"/>
              </a:rPr>
              <a:t>СA</a:t>
            </a:r>
            <a:r>
              <a:rPr lang="en-US" sz="2000" dirty="0">
                <a:solidFill>
                  <a:srgbClr val="FFFFFF"/>
                </a:solidFill>
              </a:rPr>
              <a:t>D </a:t>
            </a:r>
            <a:r>
              <a:rPr lang="en-US" sz="2000" dirty="0" err="1">
                <a:solidFill>
                  <a:srgbClr val="FFFFFF"/>
                </a:solidFill>
              </a:rPr>
              <a:t>р</a:t>
            </a:r>
            <a:r>
              <a:rPr lang="ru-RU" sz="2000" dirty="0" err="1">
                <a:solidFill>
                  <a:srgbClr val="FFFFFF"/>
                </a:solidFill>
              </a:rPr>
              <a:t>еконструкция</a:t>
            </a:r>
            <a:r>
              <a:rPr lang="ru-RU" sz="2000" dirty="0">
                <a:solidFill>
                  <a:srgbClr val="FFFFFF"/>
                </a:solidFill>
              </a:rPr>
              <a:t> для сканов</a:t>
            </a:r>
            <a:endParaRPr sz="2000" b="0" dirty="0">
              <a:solidFill>
                <a:srgbClr val="FFFFFF"/>
              </a:solidFill>
              <a:latin typeface="Moscow University"/>
            </a:endParaRPr>
          </a:p>
        </p:txBody>
      </p:sp>
      <p:pic>
        <p:nvPicPr>
          <p:cNvPr id="6" name="dem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52440" y="958852"/>
            <a:ext cx="6958687" cy="40012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509111"/>
            <a:ext cx="11091672" cy="329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ru-RU" sz="1900" b="1" dirty="0">
                <a:solidFill>
                  <a:srgbClr val="1D00C3"/>
                </a:solidFill>
                <a:latin typeface="Arial"/>
              </a:rPr>
              <a:t>На входе скан, на выходе дерево построения (</a:t>
            </a:r>
            <a:r>
              <a:rPr lang="en-US" sz="1900" b="1" dirty="0" err="1">
                <a:solidFill>
                  <a:srgbClr val="1D00C3"/>
                </a:solidFill>
                <a:latin typeface="Arial"/>
              </a:rPr>
              <a:t>к</a:t>
            </a:r>
            <a:r>
              <a:rPr lang="ru-RU" sz="1900" b="1" dirty="0">
                <a:solidFill>
                  <a:srgbClr val="1D00C3"/>
                </a:solidFill>
                <a:latin typeface="Arial"/>
              </a:rPr>
              <a:t>од </a:t>
            </a:r>
            <a:r>
              <a:rPr lang="ru-RU" sz="1900" b="1" dirty="0" err="1">
                <a:solidFill>
                  <a:srgbClr val="1D00C3"/>
                </a:solidFill>
                <a:latin typeface="Arial"/>
              </a:rPr>
              <a:t>p</a:t>
            </a:r>
            <a:r>
              <a:rPr lang="en-US" sz="1900" b="1" dirty="0" err="1">
                <a:solidFill>
                  <a:srgbClr val="1D00C3"/>
                </a:solidFill>
                <a:latin typeface="Arial"/>
              </a:rPr>
              <a:t>ython</a:t>
            </a:r>
            <a:r>
              <a:rPr lang="ru-RU" sz="1900" b="1" dirty="0">
                <a:solidFill>
                  <a:srgbClr val="1D00C3"/>
                </a:solidFill>
                <a:latin typeface="Arial"/>
              </a:rPr>
              <a:t>)</a:t>
            </a:r>
            <a:endParaRPr sz="1900" b="1" dirty="0">
              <a:solidFill>
                <a:srgbClr val="1D00C3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6008327"/>
            <a:ext cx="11091672" cy="1908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dirty="0">
                <a:solidFill>
                  <a:srgbClr val="555560"/>
                </a:solidFill>
                <a:latin typeface="Arial"/>
              </a:rPr>
              <a:t>CADENA: Stepwise CAD Reverse Engineering — </a:t>
            </a:r>
            <a:r>
              <a:rPr lang="en-US" sz="1100" dirty="0" err="1">
                <a:solidFill>
                  <a:srgbClr val="555560"/>
                </a:solidFill>
                <a:latin typeface="Arial"/>
              </a:rPr>
              <a:t>Kabisov</a:t>
            </a:r>
            <a:r>
              <a:rPr sz="1100" b="0" dirty="0">
                <a:solidFill>
                  <a:srgbClr val="555560"/>
                </a:solidFill>
                <a:latin typeface="Arial"/>
              </a:rPr>
              <a:t>. 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blueprint2cad: из чертежа в модель</a:t>
            </a:r>
          </a:p>
        </p:txBody>
      </p:sp>
      <p:pic>
        <p:nvPicPr>
          <p:cNvPr id="4" name="Picture 3" descr="blue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90" y="1188720"/>
            <a:ext cx="4086219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79" y="4343400"/>
            <a:ext cx="4663440" cy="60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ru-RU" sz="1700" b="1" dirty="0">
                <a:solidFill>
                  <a:srgbClr val="1D00C3"/>
                </a:solidFill>
                <a:latin typeface="Arial"/>
              </a:rPr>
              <a:t>Ч</a:t>
            </a:r>
            <a:r>
              <a:rPr sz="1700" b="1" dirty="0" err="1">
                <a:solidFill>
                  <a:srgbClr val="1D00C3"/>
                </a:solidFill>
                <a:latin typeface="Arial"/>
              </a:rPr>
              <a:t>ертёж</a:t>
            </a:r>
            <a:endParaRPr sz="1700" b="1" dirty="0">
              <a:solidFill>
                <a:srgbClr val="1D00C3"/>
              </a:solidFill>
              <a:latin typeface="Arial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dirty="0" err="1">
                <a:solidFill>
                  <a:srgbClr val="0B0026"/>
                </a:solidFill>
                <a:latin typeface="Arial"/>
              </a:rPr>
              <a:t>виды</a:t>
            </a:r>
            <a:r>
              <a:rPr sz="1400" b="0" dirty="0">
                <a:solidFill>
                  <a:srgbClr val="0B0026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0B0026"/>
                </a:solidFill>
                <a:latin typeface="Arial"/>
              </a:rPr>
              <a:t>разрезы</a:t>
            </a:r>
            <a:r>
              <a:rPr sz="1400" b="0" dirty="0">
                <a:solidFill>
                  <a:srgbClr val="0B0026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0B0026"/>
                </a:solidFill>
                <a:latin typeface="Arial"/>
              </a:rPr>
              <a:t>размеры</a:t>
            </a:r>
            <a:r>
              <a:rPr sz="1400" b="0" dirty="0">
                <a:solidFill>
                  <a:srgbClr val="0B0026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0B0026"/>
                </a:solidFill>
                <a:latin typeface="Arial"/>
              </a:rPr>
              <a:t>допуски</a:t>
            </a:r>
            <a:r>
              <a:rPr sz="1400" b="0" dirty="0">
                <a:solidFill>
                  <a:srgbClr val="0B0026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0B0026"/>
                </a:solidFill>
                <a:latin typeface="Arial"/>
              </a:rPr>
              <a:t>требования</a:t>
            </a:r>
            <a:endParaRPr sz="1400" b="0" dirty="0">
              <a:solidFill>
                <a:srgbClr val="0B0026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68112" y="233172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D00C3"/>
                </a:solidFill>
                <a:latin typeface="Arial"/>
              </a:rPr>
              <a:t>→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696384-AE55-C482-0832-478E1290C2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53" r="6356"/>
          <a:stretch/>
        </p:blipFill>
        <p:spPr>
          <a:xfrm>
            <a:off x="7177093" y="1333555"/>
            <a:ext cx="2854889" cy="27499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08EA7A-B8C7-BEB8-4DE7-294B2AE3D22B}"/>
              </a:ext>
            </a:extLst>
          </p:cNvPr>
          <p:cNvSpPr txBox="1"/>
          <p:nvPr/>
        </p:nvSpPr>
        <p:spPr>
          <a:xfrm>
            <a:off x="7177093" y="4359325"/>
            <a:ext cx="4663440" cy="294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lang="ru-RU" sz="1700" b="1" dirty="0">
                <a:solidFill>
                  <a:srgbClr val="1D00C3"/>
                </a:solidFill>
                <a:latin typeface="Arial"/>
              </a:rPr>
              <a:t>Дерево построения </a:t>
            </a:r>
            <a:endParaRPr sz="1400" b="0" dirty="0">
              <a:solidFill>
                <a:srgbClr val="0B002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 algn="l"/>
            <a:r>
              <a:rPr sz="2000" b="0">
                <a:solidFill>
                  <a:srgbClr val="FFFFFF"/>
                </a:solidFill>
                <a:latin typeface="Moscow University"/>
              </a:rPr>
              <a:t>brep2gcode: из детали в техпроцесс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1D00C3"/>
                </a:solidFill>
                <a:latin typeface="Arial"/>
              </a:rPr>
              <a:t>вход: модель или чертёж</a:t>
            </a:r>
          </a:p>
        </p:txBody>
      </p:sp>
      <p:pic>
        <p:nvPicPr>
          <p:cNvPr id="6" name="Picture 5" descr="blue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528197"/>
            <a:ext cx="2331720" cy="16436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32120" y="20574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D00C3"/>
                </a:solidFill>
                <a:latin typeface="Arial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234440"/>
            <a:ext cx="50749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1" dirty="0" err="1">
                <a:solidFill>
                  <a:srgbClr val="7F5CFF"/>
                </a:solidFill>
                <a:latin typeface="Arial"/>
              </a:rPr>
              <a:t>выход</a:t>
            </a:r>
            <a:r>
              <a:rPr sz="1700" b="1" dirty="0">
                <a:solidFill>
                  <a:srgbClr val="7F5CFF"/>
                </a:solidFill>
                <a:latin typeface="Arial"/>
              </a:rPr>
              <a:t>: </a:t>
            </a:r>
            <a:r>
              <a:rPr sz="1700" b="1" dirty="0" err="1">
                <a:solidFill>
                  <a:srgbClr val="7F5CFF"/>
                </a:solidFill>
                <a:latin typeface="Arial"/>
              </a:rPr>
              <a:t>техпроцесс</a:t>
            </a:r>
            <a:endParaRPr sz="1700" b="1" dirty="0">
              <a:solidFill>
                <a:srgbClr val="7F5CFF"/>
              </a:solidFill>
              <a:latin typeface="Arial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dirty="0" err="1">
                <a:solidFill>
                  <a:srgbClr val="0B0026"/>
                </a:solidFill>
                <a:latin typeface="Arial"/>
              </a:rPr>
              <a:t>маршрут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операций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инструмент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режимы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оснастка</a:t>
            </a:r>
            <a:endParaRPr sz="1500" b="0" dirty="0">
              <a:solidFill>
                <a:srgbClr val="0B0026"/>
              </a:solidFill>
              <a:latin typeface="Arial"/>
            </a:endParaR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dirty="0" err="1">
                <a:solidFill>
                  <a:srgbClr val="0B0026"/>
                </a:solidFill>
                <a:latin typeface="Arial"/>
              </a:rPr>
              <a:t>одна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форма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—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много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допустимых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маршрутов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;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выбор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зависит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от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партии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,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парка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станков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и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доступа</a:t>
            </a:r>
            <a:r>
              <a:rPr sz="1500" b="0" dirty="0">
                <a:solidFill>
                  <a:srgbClr val="0B0026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0B0026"/>
                </a:solidFill>
                <a:latin typeface="Arial"/>
              </a:rPr>
              <a:t>инструмента</a:t>
            </a:r>
            <a:endParaRPr sz="1500" b="0" dirty="0">
              <a:solidFill>
                <a:srgbClr val="0B0026"/>
              </a:solidFill>
              <a:latin typeface="Arial"/>
            </a:endParaRPr>
          </a:p>
        </p:txBody>
      </p:sp>
      <p:pic>
        <p:nvPicPr>
          <p:cNvPr id="9" name="Picture 8" descr="process_st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256" y="3429000"/>
            <a:ext cx="9588438" cy="1691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1">
                <a:solidFill>
                  <a:srgbClr val="1D00C3"/>
                </a:solidFill>
                <a:latin typeface="Arial"/>
              </a:rPr>
              <a:t>Геометрия не определяет техпроцесс однозначно — это снова задача про приоры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47585D-2E35-4A39-298B-EDAF25AC38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53" r="6356"/>
          <a:stretch/>
        </p:blipFill>
        <p:spPr>
          <a:xfrm>
            <a:off x="762000" y="1528197"/>
            <a:ext cx="1905262" cy="18352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Другая 1">
      <a:majorFont>
        <a:latin typeface="Moscow University"/>
        <a:ea typeface="Arial"/>
        <a:cs typeface="Arial"/>
      </a:majorFont>
      <a:minorFont>
        <a:latin typeface="Moscow University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788</Words>
  <Application>Microsoft Macintosh PowerPoint</Application>
  <DocSecurity>0</DocSecurity>
  <PresentationFormat>Widescreen</PresentationFormat>
  <Paragraphs>48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Arial</vt:lpstr>
      <vt:lpstr>Moscow University</vt:lpstr>
      <vt:lpstr>Calibri</vt:lpstr>
      <vt:lpstr>Aptos Display</vt:lpstr>
      <vt:lpstr>Специальное оформление</vt:lpstr>
      <vt:lpstr>1_Специальное оформление</vt:lpstr>
      <vt:lpstr>2_Специальное оформление</vt:lpstr>
      <vt:lpstr>Куда мы идём: автономный завод</vt:lpstr>
      <vt:lpstr>mesh2cad: СAD реконструкция для сканов</vt:lpstr>
      <vt:lpstr>blueprint2cad: из чертежа в модель</vt:lpstr>
      <vt:lpstr>brep2gcode: из детали в техпроцесс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Куда мы идём: автономный завод</dc:title>
  <dc:subject/>
  <dc:creator>Ксения Шибанова</dc:creator>
  <cp:keywords/>
  <dc:description/>
  <cp:lastModifiedBy>Microsoft Office User</cp:lastModifiedBy>
  <cp:revision>57</cp:revision>
  <dcterms:created xsi:type="dcterms:W3CDTF">2026-07-02T07:34:51Z</dcterms:created>
  <dcterms:modified xsi:type="dcterms:W3CDTF">2026-09-03T13:18:25Z</dcterms:modified>
  <cp:category/>
  <dc:identifier/>
  <cp:contentStatus/>
  <dc:language/>
  <cp:version/>
</cp:coreProperties>
</file>